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Знакомство" id="{030e2cd5-72ba-c0b5-c6a1-f74da655b3f5}">
          <p14:sldIdLst>
            <p14:sldId id="256"/>
            <p14:sldId id="257"/>
            <p14:sldId id="258"/>
          </p14:sldIdLst>
        </p14:section>
        <p14:section name="Программа" id="{01228dd8-7f39-613f-071d-81d87bc51997}">
          <p14:sldIdLst>
            <p14:sldId id="259"/>
          </p14:sldIdLst>
        </p14:section>
        <p14:section name="Опыт" id="{3cbf41f6-ec86-cdae-9bbb-01add63e8803}">
          <p14:sldIdLst>
            <p14:sldId id="260"/>
            <p14:sldId id="261"/>
          </p14:sldIdLst>
        </p14:section>
        <p14:section name="Контакты" id="{6fc53c07-d58a-e250-1252-5c5699ecee75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Дилором Юсупова · ментор по HR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tel:+998933768844" TargetMode="External"/><Relationship Id="rId1" Type="http://schemas.openxmlformats.org/officeDocument/2006/relationships/image" Target="../media/image-8-1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 descr="Дилором Юсупов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0"/>
            <a:ext cx="3566160" cy="5143500"/>
          </a:xfrm>
          <a:prstGeom prst="rect">
            <a:avLst/>
          </a:prstGeom>
        </p:spPr>
      </p:pic>
      <p:sp>
        <p:nvSpPr>
          <p:cNvPr id="3" name="Tag bg"/>
          <p:cNvSpPr/>
          <p:nvPr/>
        </p:nvSpPr>
        <p:spPr>
          <a:xfrm>
            <a:off x="548640" y="82296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D0457F"/>
          </a:solidFill>
          <a:ln/>
        </p:spPr>
      </p:sp>
      <p:sp>
        <p:nvSpPr>
          <p:cNvPr id="4" name="Tag"/>
          <p:cNvSpPr txBox="1"/>
          <p:nvPr/>
        </p:nvSpPr>
        <p:spPr>
          <a:xfrm>
            <a:off x="548640" y="822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МЕНТОР ПО HR · ПРАКТИК</a:t>
            </a:r>
            <a:endParaRPr lang="en-US" sz="1100" dirty="0"/>
          </a:p>
        </p:txBody>
      </p:sp>
      <p:sp>
        <p:nvSpPr>
          <p:cNvPr id="5" name="Name"/>
          <p:cNvSpPr txBox="1"/>
          <p:nvPr/>
        </p:nvSpPr>
        <p:spPr>
          <a:xfrm>
            <a:off x="548640" y="1417320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Дилором Юсупова</a:t>
            </a:r>
            <a:endParaRPr lang="en-US" sz="4000" dirty="0"/>
          </a:p>
        </p:txBody>
      </p:sp>
      <p:sp>
        <p:nvSpPr>
          <p:cNvPr id="6" name="Patronymic"/>
          <p:cNvSpPr txBox="1"/>
          <p:nvPr/>
        </p:nvSpPr>
        <p:spPr>
          <a:xfrm>
            <a:off x="54864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07AA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Тохиржон кизи</a:t>
            </a:r>
            <a:endParaRPr lang="en-US" sz="2000" dirty="0"/>
          </a:p>
        </p:txBody>
      </p:sp>
      <p:sp>
        <p:nvSpPr>
          <p:cNvPr id="7" name="Lead"/>
          <p:cNvSpPr txBox="1"/>
          <p:nvPr/>
        </p:nvSpPr>
        <p:spPr>
          <a:xfrm>
            <a:off x="548640" y="32918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2DE"/>
                </a:solidFill>
              </a:rPr>
              <a:t>Учу тому, что делаю каждый день: подбору от линейных позиций до C-level, кадровому делопроизводству, адаптации и HR-метрикам — на реальных задачах.</a:t>
            </a:r>
            <a:endParaRPr lang="en-US" sz="1400" dirty="0"/>
          </a:p>
        </p:txBody>
      </p:sp>
      <p:sp>
        <p:nvSpPr>
          <p:cNvPr id="8" name="Phone"/>
          <p:cNvSpPr txBox="1"/>
          <p:nvPr/>
        </p:nvSpPr>
        <p:spPr>
          <a:xfrm>
            <a:off x="54864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+998 93 376 88 44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Опыт в цифрах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4" name="Stat 1"/>
          <p:cNvSpPr txBox="1"/>
          <p:nvPr/>
        </p:nvSpPr>
        <p:spPr>
          <a:xfrm>
            <a:off x="777240" y="1645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400</a:t>
            </a:r>
            <a:endParaRPr lang="en-US" sz="3600" dirty="0"/>
          </a:p>
        </p:txBody>
      </p:sp>
      <p:sp>
        <p:nvSpPr>
          <p:cNvPr id="5" name="Stat label 1"/>
          <p:cNvSpPr txBox="1"/>
          <p:nvPr/>
        </p:nvSpPr>
        <p:spPr>
          <a:xfrm>
            <a:off x="777240" y="2560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человек в массовом подборе производственного персонала на одном проекте (2 смены)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7" name="Stat 2"/>
          <p:cNvSpPr txBox="1"/>
          <p:nvPr/>
        </p:nvSpPr>
        <p:spPr>
          <a:xfrm>
            <a:off x="3520440" y="1645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6–7 дней</a:t>
            </a:r>
            <a:endParaRPr lang="en-US" sz="3600" dirty="0"/>
          </a:p>
        </p:txBody>
      </p:sp>
      <p:sp>
        <p:nvSpPr>
          <p:cNvPr id="8" name="Stat label 2"/>
          <p:cNvSpPr txBox="1"/>
          <p:nvPr/>
        </p:nvSpPr>
        <p:spPr>
          <a:xfrm>
            <a:off x="3520440" y="2560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средний time to hire в текущей компании; time to fill — 39 дней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035040" y="1371600"/>
            <a:ext cx="2560320" cy="28346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10" name="Stat 3"/>
          <p:cNvSpPr txBox="1"/>
          <p:nvPr/>
        </p:nvSpPr>
        <p:spPr>
          <a:xfrm>
            <a:off x="6263640" y="16459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C-level</a:t>
            </a:r>
            <a:endParaRPr lang="en-US" sz="3600" dirty="0"/>
          </a:p>
        </p:txBody>
      </p:sp>
      <p:sp>
        <p:nvSpPr>
          <p:cNvPr id="11" name="Stat label 3"/>
          <p:cNvSpPr txBox="1"/>
          <p:nvPr/>
        </p:nvSpPr>
        <p:spPr>
          <a:xfrm>
            <a:off x="6263640" y="25603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уровень закрываемых вакансий: от линейных позиций до топ-менеджеров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Обо мне</a:t>
            </a:r>
            <a:endParaRPr lang="en-US" sz="3200" dirty="0"/>
          </a:p>
        </p:txBody>
      </p:sp>
      <p:pic>
        <p:nvPicPr>
          <p:cNvPr id="3" name="Avatar" descr="Дилором Юсупов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2651760" cy="2651760"/>
          </a:xfrm>
          <a:prstGeom prst="ellipse">
            <a:avLst/>
          </a:prstGeom>
        </p:spPr>
      </p:pic>
      <p:sp>
        <p:nvSpPr>
          <p:cNvPr id="4" name="About card"/>
          <p:cNvSpPr/>
          <p:nvPr/>
        </p:nvSpPr>
        <p:spPr>
          <a:xfrm>
            <a:off x="3566160" y="1234440"/>
            <a:ext cx="5029200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5" name="About text"/>
          <p:cNvSpPr txBox="1"/>
          <p:nvPr/>
        </p:nvSpPr>
        <p:spPr>
          <a:xfrm>
            <a:off x="3840480" y="14630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Я пришла в HR не сразу.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По образованию я инженер-гидротехник, затем больше шести лет вела документооборот в хокимияте Ташкента: приказы, поручения, контроль сроков.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 2024 года работаю HR-генералистом: закрываю вакансии, веду кадровые документы, строю адаптацию и считаю метрики найма. Поэтому знаю, с чем сталкивается новичок в профессии.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Чему я научу</a:t>
            </a:r>
            <a:endParaRPr lang="en-US" sz="3200" dirty="0"/>
          </a:p>
        </p:txBody>
      </p:sp>
      <p:sp>
        <p:nvSpPr>
          <p:cNvPr id="3" name="Topic card 1"/>
          <p:cNvSpPr/>
          <p:nvPr/>
        </p:nvSpPr>
        <p:spPr>
          <a:xfrm>
            <a:off x="54864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4" name="Topic 1 circle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E8F0FC"/>
          </a:solidFill>
          <a:ln/>
        </p:spPr>
      </p:sp>
      <p:pic>
        <p:nvPicPr>
          <p:cNvPr id="5" name="Topic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536192"/>
            <a:ext cx="219456" cy="219456"/>
          </a:xfrm>
          <a:prstGeom prst="rect">
            <a:avLst/>
          </a:prstGeom>
        </p:spPr>
      </p:pic>
      <p:sp>
        <p:nvSpPr>
          <p:cNvPr id="6" name="Topic title 1"/>
          <p:cNvSpPr txBox="1"/>
          <p:nvPr/>
        </p:nvSpPr>
        <p:spPr>
          <a:xfrm>
            <a:off x="1298448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Рекрутинг полного цикла</a:t>
            </a:r>
            <a:endParaRPr lang="en-US" sz="1400" dirty="0"/>
          </a:p>
        </p:txBody>
      </p:sp>
      <p:sp>
        <p:nvSpPr>
          <p:cNvPr id="7" name="Topic text 1"/>
          <p:cNvSpPr txBox="1"/>
          <p:nvPr/>
        </p:nvSpPr>
        <p:spPr>
          <a:xfrm>
            <a:off x="73152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Профиль кандидата, поиск, интервью, оффер</a:t>
            </a:r>
            <a:endParaRPr lang="en-US" sz="1200" dirty="0"/>
          </a:p>
        </p:txBody>
      </p:sp>
      <p:sp>
        <p:nvSpPr>
          <p:cNvPr id="8" name="Topic card 2"/>
          <p:cNvSpPr/>
          <p:nvPr/>
        </p:nvSpPr>
        <p:spPr>
          <a:xfrm>
            <a:off x="329184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9" name="Topic 2 circle"/>
          <p:cNvSpPr/>
          <p:nvPr/>
        </p:nvSpPr>
        <p:spPr>
          <a:xfrm>
            <a:off x="3474720" y="1417320"/>
            <a:ext cx="457200" cy="457200"/>
          </a:xfrm>
          <a:prstGeom prst="ellipse">
            <a:avLst/>
          </a:prstGeom>
          <a:solidFill>
            <a:srgbClr val="FBE6EF"/>
          </a:solidFill>
          <a:ln/>
        </p:spPr>
      </p:sp>
      <p:pic>
        <p:nvPicPr>
          <p:cNvPr id="10" name="Topic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536192"/>
            <a:ext cx="219456" cy="219456"/>
          </a:xfrm>
          <a:prstGeom prst="rect">
            <a:avLst/>
          </a:prstGeom>
        </p:spPr>
      </p:pic>
      <p:sp>
        <p:nvSpPr>
          <p:cNvPr id="11" name="Topic title 2"/>
          <p:cNvSpPr txBox="1"/>
          <p:nvPr/>
        </p:nvSpPr>
        <p:spPr>
          <a:xfrm>
            <a:off x="4041648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Кадровое делопроизводство</a:t>
            </a:r>
            <a:endParaRPr lang="en-US" sz="1400" dirty="0"/>
          </a:p>
        </p:txBody>
      </p:sp>
      <p:sp>
        <p:nvSpPr>
          <p:cNvPr id="12" name="Topic text 2"/>
          <p:cNvSpPr txBox="1"/>
          <p:nvPr/>
        </p:nvSpPr>
        <p:spPr>
          <a:xfrm>
            <a:off x="347472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Приказы, личные дела, ГПХ, MyMehnat, 1C: Bon Sens</a:t>
            </a:r>
            <a:endParaRPr lang="en-US" sz="1200" dirty="0"/>
          </a:p>
        </p:txBody>
      </p:sp>
      <p:sp>
        <p:nvSpPr>
          <p:cNvPr id="13" name="Topic card 3"/>
          <p:cNvSpPr/>
          <p:nvPr/>
        </p:nvSpPr>
        <p:spPr>
          <a:xfrm>
            <a:off x="6035040" y="123444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14" name="Topic 3 circle"/>
          <p:cNvSpPr/>
          <p:nvPr/>
        </p:nvSpPr>
        <p:spPr>
          <a:xfrm>
            <a:off x="6217920" y="1417320"/>
            <a:ext cx="457200" cy="457200"/>
          </a:xfrm>
          <a:prstGeom prst="ellipse">
            <a:avLst/>
          </a:prstGeom>
          <a:solidFill>
            <a:srgbClr val="E8F0FC"/>
          </a:solidFill>
          <a:ln/>
        </p:spPr>
      </p:sp>
      <p:pic>
        <p:nvPicPr>
          <p:cNvPr id="15" name="Topic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536192"/>
            <a:ext cx="219456" cy="219456"/>
          </a:xfrm>
          <a:prstGeom prst="rect">
            <a:avLst/>
          </a:prstGeom>
        </p:spPr>
      </p:pic>
      <p:sp>
        <p:nvSpPr>
          <p:cNvPr id="16" name="Topic title 3"/>
          <p:cNvSpPr txBox="1"/>
          <p:nvPr/>
        </p:nvSpPr>
        <p:spPr>
          <a:xfrm>
            <a:off x="6784848" y="14173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Адаптация и онбординг</a:t>
            </a:r>
            <a:endParaRPr lang="en-US" sz="1400" dirty="0"/>
          </a:p>
        </p:txBody>
      </p:sp>
      <p:sp>
        <p:nvSpPr>
          <p:cNvPr id="17" name="Topic text 3"/>
          <p:cNvSpPr txBox="1"/>
          <p:nvPr/>
        </p:nvSpPr>
        <p:spPr>
          <a:xfrm>
            <a:off x="6217920" y="19659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Программа онбординга, вводное обучение, стей-интервью</a:t>
            </a:r>
            <a:endParaRPr lang="en-US" sz="1200" dirty="0"/>
          </a:p>
        </p:txBody>
      </p:sp>
      <p:sp>
        <p:nvSpPr>
          <p:cNvPr id="18" name="Topic card 4"/>
          <p:cNvSpPr/>
          <p:nvPr/>
        </p:nvSpPr>
        <p:spPr>
          <a:xfrm>
            <a:off x="54864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19" name="Topic 4 circle"/>
          <p:cNvSpPr/>
          <p:nvPr/>
        </p:nvSpPr>
        <p:spPr>
          <a:xfrm>
            <a:off x="731520" y="3108960"/>
            <a:ext cx="457200" cy="457200"/>
          </a:xfrm>
          <a:prstGeom prst="ellipse">
            <a:avLst/>
          </a:prstGeom>
          <a:solidFill>
            <a:srgbClr val="FBE6EF"/>
          </a:solidFill>
          <a:ln/>
        </p:spPr>
      </p:sp>
      <p:pic>
        <p:nvPicPr>
          <p:cNvPr id="20" name="Topic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3227832"/>
            <a:ext cx="219456" cy="219456"/>
          </a:xfrm>
          <a:prstGeom prst="rect">
            <a:avLst/>
          </a:prstGeom>
        </p:spPr>
      </p:pic>
      <p:sp>
        <p:nvSpPr>
          <p:cNvPr id="21" name="Topic title 4"/>
          <p:cNvSpPr txBox="1"/>
          <p:nvPr/>
        </p:nvSpPr>
        <p:spPr>
          <a:xfrm>
            <a:off x="1298448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Оценка персонала</a:t>
            </a:r>
            <a:endParaRPr lang="en-US" sz="1400" dirty="0"/>
          </a:p>
        </p:txBody>
      </p:sp>
      <p:sp>
        <p:nvSpPr>
          <p:cNvPr id="22" name="Topic text 4"/>
          <p:cNvSpPr txBox="1"/>
          <p:nvPr/>
        </p:nvSpPr>
        <p:spPr>
          <a:xfrm>
            <a:off x="73152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Модель компетенций, оценка 360°</a:t>
            </a:r>
            <a:endParaRPr lang="en-US" sz="1200" dirty="0"/>
          </a:p>
        </p:txBody>
      </p:sp>
      <p:sp>
        <p:nvSpPr>
          <p:cNvPr id="23" name="Topic card 5"/>
          <p:cNvSpPr/>
          <p:nvPr/>
        </p:nvSpPr>
        <p:spPr>
          <a:xfrm>
            <a:off x="329184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24" name="Topic 5 circle"/>
          <p:cNvSpPr/>
          <p:nvPr/>
        </p:nvSpPr>
        <p:spPr>
          <a:xfrm>
            <a:off x="3474720" y="3108960"/>
            <a:ext cx="457200" cy="457200"/>
          </a:xfrm>
          <a:prstGeom prst="ellipse">
            <a:avLst/>
          </a:prstGeom>
          <a:solidFill>
            <a:srgbClr val="E8F0FC"/>
          </a:solidFill>
          <a:ln/>
        </p:spPr>
      </p:sp>
      <p:pic>
        <p:nvPicPr>
          <p:cNvPr id="25" name="Topic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227832"/>
            <a:ext cx="219456" cy="219456"/>
          </a:xfrm>
          <a:prstGeom prst="rect">
            <a:avLst/>
          </a:prstGeom>
        </p:spPr>
      </p:pic>
      <p:sp>
        <p:nvSpPr>
          <p:cNvPr id="26" name="Topic title 5"/>
          <p:cNvSpPr txBox="1"/>
          <p:nvPr/>
        </p:nvSpPr>
        <p:spPr>
          <a:xfrm>
            <a:off x="4041648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HR-аналитика</a:t>
            </a:r>
            <a:endParaRPr lang="en-US" sz="1400" dirty="0"/>
          </a:p>
        </p:txBody>
      </p:sp>
      <p:sp>
        <p:nvSpPr>
          <p:cNvPr id="27" name="Topic text 5"/>
          <p:cNvSpPr txBox="1"/>
          <p:nvPr/>
        </p:nvSpPr>
        <p:spPr>
          <a:xfrm>
            <a:off x="347472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Time to hire, time to fill, стоимость найма, текучесть</a:t>
            </a:r>
            <a:endParaRPr lang="en-US" sz="1200" dirty="0"/>
          </a:p>
        </p:txBody>
      </p:sp>
      <p:sp>
        <p:nvSpPr>
          <p:cNvPr id="28" name="Topic card 6"/>
          <p:cNvSpPr/>
          <p:nvPr/>
        </p:nvSpPr>
        <p:spPr>
          <a:xfrm>
            <a:off x="6035040" y="2926080"/>
            <a:ext cx="2560320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29" name="Topic 6 circle"/>
          <p:cNvSpPr/>
          <p:nvPr/>
        </p:nvSpPr>
        <p:spPr>
          <a:xfrm>
            <a:off x="6217920" y="3108960"/>
            <a:ext cx="457200" cy="457200"/>
          </a:xfrm>
          <a:prstGeom prst="ellipse">
            <a:avLst/>
          </a:prstGeom>
          <a:solidFill>
            <a:srgbClr val="FBE6EF"/>
          </a:solidFill>
          <a:ln/>
        </p:spPr>
      </p:sp>
      <p:pic>
        <p:nvPicPr>
          <p:cNvPr id="30" name="Topic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6792" y="3227832"/>
            <a:ext cx="219456" cy="219456"/>
          </a:xfrm>
          <a:prstGeom prst="rect">
            <a:avLst/>
          </a:prstGeom>
        </p:spPr>
      </p:pic>
      <p:sp>
        <p:nvSpPr>
          <p:cNvPr id="31" name="Topic title 6"/>
          <p:cNvSpPr txBox="1"/>
          <p:nvPr/>
        </p:nvSpPr>
        <p:spPr>
          <a:xfrm>
            <a:off x="6784848" y="3108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Оргдизайн</a:t>
            </a:r>
            <a:endParaRPr lang="en-US" sz="1400" dirty="0"/>
          </a:p>
        </p:txBody>
      </p:sp>
      <p:sp>
        <p:nvSpPr>
          <p:cNvPr id="32" name="Topic text 6"/>
          <p:cNvSpPr txBox="1"/>
          <p:nvPr/>
        </p:nvSpPr>
        <p:spPr>
          <a:xfrm>
            <a:off x="6217920" y="365760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Оргструктура, штатное расписание, должностные обязанности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Мой опыт</a:t>
            </a:r>
            <a:endParaRPr lang="en-US" sz="3200" dirty="0"/>
          </a:p>
        </p:txBody>
      </p:sp>
      <p:sp>
        <p:nvSpPr>
          <p:cNvPr id="3" name="Timeline"/>
          <p:cNvSpPr/>
          <p:nvPr/>
        </p:nvSpPr>
        <p:spPr>
          <a:xfrm>
            <a:off x="548640" y="1572768"/>
            <a:ext cx="8046720" cy="0"/>
          </a:xfrm>
          <a:prstGeom prst="line">
            <a:avLst/>
          </a:prstGeom>
          <a:noFill/>
          <a:ln w="19050">
            <a:solidFill>
              <a:srgbClr val="D0457F"/>
            </a:solidFill>
            <a:prstDash val="solid"/>
          </a:ln>
        </p:spPr>
      </p:sp>
      <p:sp>
        <p:nvSpPr>
          <p:cNvPr id="4" name="Dot 1"/>
          <p:cNvSpPr/>
          <p:nvPr/>
        </p:nvSpPr>
        <p:spPr>
          <a:xfrm>
            <a:off x="548640" y="1463040"/>
            <a:ext cx="219456" cy="219456"/>
          </a:xfrm>
          <a:prstGeom prst="ellipse">
            <a:avLst/>
          </a:prstGeom>
          <a:solidFill>
            <a:srgbClr val="D0457F"/>
          </a:solidFill>
          <a:ln w="19050">
            <a:solidFill>
              <a:srgbClr val="D0457F"/>
            </a:solidFill>
            <a:prstDash val="solid"/>
          </a:ln>
        </p:spPr>
      </p:sp>
      <p:sp>
        <p:nvSpPr>
          <p:cNvPr id="5" name="When 1"/>
          <p:cNvSpPr txBox="1"/>
          <p:nvPr/>
        </p:nvSpPr>
        <p:spPr>
          <a:xfrm>
            <a:off x="548640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авг 2024 — сейчас</a:t>
            </a:r>
            <a:endParaRPr lang="en-US" sz="1200" dirty="0"/>
          </a:p>
        </p:txBody>
      </p:sp>
      <p:sp>
        <p:nvSpPr>
          <p:cNvPr id="6" name="Job card 1"/>
          <p:cNvSpPr/>
          <p:nvPr/>
        </p:nvSpPr>
        <p:spPr>
          <a:xfrm>
            <a:off x="548640" y="1874520"/>
            <a:ext cx="2560320" cy="26060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7" name="Org 1"/>
          <p:cNvSpPr txBox="1"/>
          <p:nvPr/>
        </p:nvSpPr>
        <p:spPr>
          <a:xfrm>
            <a:off x="7315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BIZNES BOMOND</a:t>
            </a:r>
            <a:endParaRPr lang="en-US" sz="1400" dirty="0"/>
          </a:p>
        </p:txBody>
      </p:sp>
      <p:sp>
        <p:nvSpPr>
          <p:cNvPr id="8" name="Role 1"/>
          <p:cNvSpPr txBox="1"/>
          <p:nvPr/>
        </p:nvSpPr>
        <p:spPr>
          <a:xfrm>
            <a:off x="731520" y="2542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HR-генералист · рекламно-производственная компания</a:t>
            </a:r>
            <a:endParaRPr lang="en-US" sz="1100" dirty="0"/>
          </a:p>
        </p:txBody>
      </p:sp>
      <p:sp>
        <p:nvSpPr>
          <p:cNvPr id="9" name="Duties 1"/>
          <p:cNvSpPr txBox="1"/>
          <p:nvPr/>
        </p:nvSpPr>
        <p:spPr>
          <a:xfrm>
            <a:off x="7315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Рекрутинг до C-level, массовый подбор до 400 человек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Компетенции, оценка 360°, онбординг</a:t>
            </a:r>
            <a:endParaRPr lang="en-US" sz="1200" dirty="0"/>
          </a:p>
        </p:txBody>
      </p:sp>
      <p:sp>
        <p:nvSpPr>
          <p:cNvPr id="10" name="Dot 2"/>
          <p:cNvSpPr/>
          <p:nvPr/>
        </p:nvSpPr>
        <p:spPr>
          <a:xfrm>
            <a:off x="3291840" y="146304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0457F"/>
            </a:solidFill>
            <a:prstDash val="solid"/>
          </a:ln>
        </p:spPr>
      </p:sp>
      <p:sp>
        <p:nvSpPr>
          <p:cNvPr id="11" name="When 2"/>
          <p:cNvSpPr txBox="1"/>
          <p:nvPr/>
        </p:nvSpPr>
        <p:spPr>
          <a:xfrm>
            <a:off x="3291840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янв — июль 2024</a:t>
            </a:r>
            <a:endParaRPr lang="en-US" sz="1200" dirty="0"/>
          </a:p>
        </p:txBody>
      </p:sp>
      <p:sp>
        <p:nvSpPr>
          <p:cNvPr id="12" name="Job card 2"/>
          <p:cNvSpPr/>
          <p:nvPr/>
        </p:nvSpPr>
        <p:spPr>
          <a:xfrm>
            <a:off x="3291840" y="1874520"/>
            <a:ext cx="2560320" cy="26060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13" name="Org 2"/>
          <p:cNvSpPr txBox="1"/>
          <p:nvPr/>
        </p:nvSpPr>
        <p:spPr>
          <a:xfrm>
            <a:off x="34747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OOO «KNYAZOV» (HOFFEN1)</a:t>
            </a:r>
            <a:endParaRPr lang="en-US" sz="1400" dirty="0"/>
          </a:p>
        </p:txBody>
      </p:sp>
      <p:sp>
        <p:nvSpPr>
          <p:cNvPr id="14" name="Role 2"/>
          <p:cNvSpPr txBox="1"/>
          <p:nvPr/>
        </p:nvSpPr>
        <p:spPr>
          <a:xfrm>
            <a:off x="3474720" y="2542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HR-генералист</a:t>
            </a:r>
            <a:endParaRPr lang="en-US" sz="1100" dirty="0"/>
          </a:p>
        </p:txBody>
      </p:sp>
      <p:sp>
        <p:nvSpPr>
          <p:cNvPr id="15" name="Duties 2"/>
          <p:cNvSpPr txBox="1"/>
          <p:nvPr/>
        </p:nvSpPr>
        <p:spPr>
          <a:xfrm>
            <a:off x="34747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Полный цикл подбора, кадровый резерв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Адаптация, должностные инструкции</a:t>
            </a:r>
            <a:endParaRPr lang="en-US" sz="1200" dirty="0"/>
          </a:p>
        </p:txBody>
      </p:sp>
      <p:sp>
        <p:nvSpPr>
          <p:cNvPr id="16" name="Dot 3"/>
          <p:cNvSpPr/>
          <p:nvPr/>
        </p:nvSpPr>
        <p:spPr>
          <a:xfrm>
            <a:off x="6035040" y="146304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0457F"/>
            </a:solidFill>
            <a:prstDash val="solid"/>
          </a:ln>
        </p:spPr>
      </p:sp>
      <p:sp>
        <p:nvSpPr>
          <p:cNvPr id="17" name="When 3"/>
          <p:cNvSpPr txBox="1"/>
          <p:nvPr/>
        </p:nvSpPr>
        <p:spPr>
          <a:xfrm>
            <a:off x="6035040" y="11887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нояб 2017 — фев 2024</a:t>
            </a:r>
            <a:endParaRPr lang="en-US" sz="1200" dirty="0"/>
          </a:p>
        </p:txBody>
      </p:sp>
      <p:sp>
        <p:nvSpPr>
          <p:cNvPr id="18" name="Job card 3"/>
          <p:cNvSpPr/>
          <p:nvPr/>
        </p:nvSpPr>
        <p:spPr>
          <a:xfrm>
            <a:off x="6035040" y="1874520"/>
            <a:ext cx="2560320" cy="260604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19" name="Org 3"/>
          <p:cNvSpPr txBox="1"/>
          <p:nvPr/>
        </p:nvSpPr>
        <p:spPr>
          <a:xfrm>
            <a:off x="62179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Хокимият г. Ташкента</a:t>
            </a:r>
            <a:endParaRPr lang="en-US" sz="1400" dirty="0"/>
          </a:p>
        </p:txBody>
      </p:sp>
      <p:sp>
        <p:nvSpPr>
          <p:cNvPr id="20" name="Role 3"/>
          <p:cNvSpPr txBox="1"/>
          <p:nvPr/>
        </p:nvSpPr>
        <p:spPr>
          <a:xfrm>
            <a:off x="6217920" y="2542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Делопроизводитель</a:t>
            </a:r>
            <a:endParaRPr lang="en-US" sz="1100" dirty="0"/>
          </a:p>
        </p:txBody>
      </p:sp>
      <p:sp>
        <p:nvSpPr>
          <p:cNvPr id="21" name="Duties 3"/>
          <p:cNvSpPr txBox="1"/>
          <p:nvPr/>
        </p:nvSpPr>
        <p:spPr>
          <a:xfrm>
            <a:off x="6217920" y="301752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Документооборот секретариата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2"/>
                </a:solidFill>
              </a:rPr>
              <a:t>Контроль исполнения поручений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Образование и обучение</a:t>
            </a:r>
            <a:endParaRPr lang="en-US" sz="3200" dirty="0"/>
          </a:p>
        </p:txBody>
      </p:sp>
      <p:sp>
        <p:nvSpPr>
          <p:cNvPr id="3" name="Degree card"/>
          <p:cNvSpPr/>
          <p:nvPr/>
        </p:nvSpPr>
        <p:spPr>
          <a:xfrm>
            <a:off x="548640" y="123444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E8F0FC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4" name="Degree circle"/>
          <p:cNvSpPr/>
          <p:nvPr/>
        </p:nvSpPr>
        <p:spPr>
          <a:xfrm>
            <a:off x="777240" y="14630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Degre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581912"/>
            <a:ext cx="219456" cy="219456"/>
          </a:xfrm>
          <a:prstGeom prst="rect">
            <a:avLst/>
          </a:prstGeom>
        </p:spPr>
      </p:pic>
      <p:sp>
        <p:nvSpPr>
          <p:cNvPr id="6" name="Degree year"/>
          <p:cNvSpPr txBox="1"/>
          <p:nvPr/>
        </p:nvSpPr>
        <p:spPr>
          <a:xfrm>
            <a:off x="77724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2600" dirty="0"/>
          </a:p>
        </p:txBody>
      </p:sp>
      <p:sp>
        <p:nvSpPr>
          <p:cNvPr id="7" name="Degree text"/>
          <p:cNvSpPr txBox="1"/>
          <p:nvPr/>
        </p:nvSpPr>
        <p:spPr>
          <a:xfrm>
            <a:off x="777240" y="26517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Бакалавр, ТИИИМСХ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Гидротехника, инженер</a:t>
            </a:r>
            <a:endParaRPr lang="en-US" sz="1400" dirty="0"/>
          </a:p>
        </p:txBody>
      </p:sp>
      <p:sp>
        <p:nvSpPr>
          <p:cNvPr id="8" name="Course card 1"/>
          <p:cNvSpPr/>
          <p:nvPr/>
        </p:nvSpPr>
        <p:spPr>
          <a:xfrm>
            <a:off x="3566160" y="1234440"/>
            <a:ext cx="50292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9" name="Course year 1"/>
          <p:cNvSpPr txBox="1"/>
          <p:nvPr/>
        </p:nvSpPr>
        <p:spPr>
          <a:xfrm>
            <a:off x="3749040" y="123444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2026</a:t>
            </a:r>
            <a:endParaRPr lang="en-US" sz="1600" dirty="0"/>
          </a:p>
        </p:txBody>
      </p:sp>
      <p:sp>
        <p:nvSpPr>
          <p:cNvPr id="10" name="Course 1"/>
          <p:cNvSpPr txBox="1"/>
          <p:nvPr/>
        </p:nvSpPr>
        <p:spPr>
          <a:xfrm>
            <a:off x="4526280" y="12344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Senior HR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·  TOP HR ACADEMY</a:t>
            </a:r>
            <a:endParaRPr lang="en-US" sz="1400" dirty="0"/>
          </a:p>
        </p:txBody>
      </p:sp>
      <p:sp>
        <p:nvSpPr>
          <p:cNvPr id="11" name="Course card 2"/>
          <p:cNvSpPr/>
          <p:nvPr/>
        </p:nvSpPr>
        <p:spPr>
          <a:xfrm>
            <a:off x="3566160" y="2057400"/>
            <a:ext cx="50292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12" name="Course year 2"/>
          <p:cNvSpPr txBox="1"/>
          <p:nvPr/>
        </p:nvSpPr>
        <p:spPr>
          <a:xfrm>
            <a:off x="3749040" y="20574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2025</a:t>
            </a:r>
            <a:endParaRPr lang="en-US" sz="1600" dirty="0"/>
          </a:p>
        </p:txBody>
      </p:sp>
      <p:sp>
        <p:nvSpPr>
          <p:cNvPr id="13" name="Course 2"/>
          <p:cNvSpPr txBox="1"/>
          <p:nvPr/>
        </p:nvSpPr>
        <p:spPr>
          <a:xfrm>
            <a:off x="4526280" y="20574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IT Recruiting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·  Anatomiya HR</a:t>
            </a:r>
            <a:endParaRPr lang="en-US" sz="1400" dirty="0"/>
          </a:p>
        </p:txBody>
      </p:sp>
      <p:sp>
        <p:nvSpPr>
          <p:cNvPr id="14" name="Course card 3"/>
          <p:cNvSpPr/>
          <p:nvPr/>
        </p:nvSpPr>
        <p:spPr>
          <a:xfrm>
            <a:off x="3566160" y="2880360"/>
            <a:ext cx="50292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15" name="Course year 3"/>
          <p:cNvSpPr txBox="1"/>
          <p:nvPr/>
        </p:nvSpPr>
        <p:spPr>
          <a:xfrm>
            <a:off x="3749040" y="28803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2025</a:t>
            </a:r>
            <a:endParaRPr lang="en-US" sz="1600" dirty="0"/>
          </a:p>
        </p:txBody>
      </p:sp>
      <p:sp>
        <p:nvSpPr>
          <p:cNvPr id="16" name="Course 3"/>
          <p:cNvSpPr txBox="1"/>
          <p:nvPr/>
        </p:nvSpPr>
        <p:spPr>
          <a:xfrm>
            <a:off x="4526280" y="28803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Организационный дизайн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·  Udemy</a:t>
            </a:r>
            <a:endParaRPr lang="en-US" sz="1400" dirty="0"/>
          </a:p>
        </p:txBody>
      </p:sp>
      <p:sp>
        <p:nvSpPr>
          <p:cNvPr id="17" name="Course card 4"/>
          <p:cNvSpPr/>
          <p:nvPr/>
        </p:nvSpPr>
        <p:spPr>
          <a:xfrm>
            <a:off x="3566160" y="3703320"/>
            <a:ext cx="502920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18" name="Course year 4"/>
          <p:cNvSpPr txBox="1"/>
          <p:nvPr/>
        </p:nvSpPr>
        <p:spPr>
          <a:xfrm>
            <a:off x="3749040" y="37033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2023</a:t>
            </a:r>
            <a:endParaRPr lang="en-US" sz="1600" dirty="0"/>
          </a:p>
        </p:txBody>
      </p:sp>
      <p:sp>
        <p:nvSpPr>
          <p:cNvPr id="19" name="Course 4"/>
          <p:cNvSpPr txBox="1"/>
          <p:nvPr/>
        </p:nvSpPr>
        <p:spPr>
          <a:xfrm>
            <a:off x="4526280" y="37033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HR 1.0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  ·  Anatomiya HR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Кому подойдёт обучение</a:t>
            </a:r>
            <a:endParaRPr lang="en-US" sz="3200" dirty="0"/>
          </a:p>
        </p:txBody>
      </p:sp>
      <p:sp>
        <p:nvSpPr>
          <p:cNvPr id="3" name="Audience card 1"/>
          <p:cNvSpPr/>
          <p:nvPr/>
        </p:nvSpPr>
        <p:spPr>
          <a:xfrm>
            <a:off x="54864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4" name="Audience 1 circle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E8F0FC"/>
          </a:solidFill>
          <a:ln/>
        </p:spPr>
      </p:sp>
      <p:pic>
        <p:nvPicPr>
          <p:cNvPr id="5" name="Audienc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27632"/>
            <a:ext cx="219456" cy="219456"/>
          </a:xfrm>
          <a:prstGeom prst="rect">
            <a:avLst/>
          </a:prstGeom>
        </p:spPr>
      </p:pic>
      <p:sp>
        <p:nvSpPr>
          <p:cNvPr id="6" name="Audience title 1"/>
          <p:cNvSpPr txBox="1"/>
          <p:nvPr/>
        </p:nvSpPr>
        <p:spPr>
          <a:xfrm>
            <a:off x="77724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Студентам</a:t>
            </a:r>
            <a:endParaRPr lang="en-US" sz="1600" dirty="0"/>
          </a:p>
        </p:txBody>
      </p:sp>
      <p:sp>
        <p:nvSpPr>
          <p:cNvPr id="7" name="Audience text 1"/>
          <p:cNvSpPr txBox="1"/>
          <p:nvPr/>
        </p:nvSpPr>
        <p:spPr>
          <a:xfrm>
            <a:off x="77724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Хотите начать карьеру в HR и понять, как профессия устроена на практике</a:t>
            </a:r>
            <a:endParaRPr lang="en-US" sz="1400" dirty="0"/>
          </a:p>
        </p:txBody>
      </p:sp>
      <p:sp>
        <p:nvSpPr>
          <p:cNvPr id="8" name="Audience card 2"/>
          <p:cNvSpPr/>
          <p:nvPr/>
        </p:nvSpPr>
        <p:spPr>
          <a:xfrm>
            <a:off x="329184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9" name="Audience 2 circle"/>
          <p:cNvSpPr/>
          <p:nvPr/>
        </p:nvSpPr>
        <p:spPr>
          <a:xfrm>
            <a:off x="3520440" y="1508760"/>
            <a:ext cx="457200" cy="457200"/>
          </a:xfrm>
          <a:prstGeom prst="ellipse">
            <a:avLst/>
          </a:prstGeom>
          <a:solidFill>
            <a:srgbClr val="FBE6EF"/>
          </a:solidFill>
          <a:ln/>
        </p:spPr>
      </p:sp>
      <p:pic>
        <p:nvPicPr>
          <p:cNvPr id="10" name="Audienc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1627632"/>
            <a:ext cx="219456" cy="219456"/>
          </a:xfrm>
          <a:prstGeom prst="rect">
            <a:avLst/>
          </a:prstGeom>
        </p:spPr>
      </p:pic>
      <p:sp>
        <p:nvSpPr>
          <p:cNvPr id="11" name="Audience title 2"/>
          <p:cNvSpPr txBox="1"/>
          <p:nvPr/>
        </p:nvSpPr>
        <p:spPr>
          <a:xfrm>
            <a:off x="352044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Тем, кто меняет профессию</a:t>
            </a:r>
            <a:endParaRPr lang="en-US" sz="1600" dirty="0"/>
          </a:p>
        </p:txBody>
      </p:sp>
      <p:sp>
        <p:nvSpPr>
          <p:cNvPr id="12" name="Audience text 2"/>
          <p:cNvSpPr txBox="1"/>
          <p:nvPr/>
        </p:nvSpPr>
        <p:spPr>
          <a:xfrm>
            <a:off x="352044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Приходите в HR из другой сферы — как и я когда-то — и хотите войти быстрее</a:t>
            </a:r>
            <a:endParaRPr lang="en-US" sz="1400" dirty="0"/>
          </a:p>
        </p:txBody>
      </p:sp>
      <p:sp>
        <p:nvSpPr>
          <p:cNvPr id="13" name="Audience card 3"/>
          <p:cNvSpPr/>
          <p:nvPr/>
        </p:nvSpPr>
        <p:spPr>
          <a:xfrm>
            <a:off x="6035040" y="1280160"/>
            <a:ext cx="2560320" cy="3017520"/>
          </a:xfrm>
          <a:prstGeom prst="roundRect">
            <a:avLst>
              <a:gd name="adj" fmla="val 4286"/>
            </a:avLst>
          </a:prstGeom>
          <a:solidFill>
            <a:schemeClr val="bg1"/>
          </a:solidFill>
          <a:ln w="9525">
            <a:solidFill>
              <a:srgbClr val="ECE4EC"/>
            </a:solidFill>
            <a:prstDash val="solid"/>
          </a:ln>
          <a:effectLst>
            <a:outerShdw sx="100000" sy="100000" kx="0" ky="0" algn="bl" rotWithShape="0" blurRad="101600" dist="25400" dir="5400000">
              <a:srgbClr val="783C64">
                <a:alpha val="12000"/>
              </a:srgbClr>
            </a:outerShdw>
          </a:effectLst>
        </p:spPr>
      </p:sp>
      <p:sp>
        <p:nvSpPr>
          <p:cNvPr id="14" name="Audience 3 circle"/>
          <p:cNvSpPr/>
          <p:nvPr/>
        </p:nvSpPr>
        <p:spPr>
          <a:xfrm>
            <a:off x="6263640" y="1508760"/>
            <a:ext cx="457200" cy="457200"/>
          </a:xfrm>
          <a:prstGeom prst="ellipse">
            <a:avLst/>
          </a:prstGeom>
          <a:solidFill>
            <a:srgbClr val="E8F0FC"/>
          </a:solidFill>
          <a:ln/>
        </p:spPr>
      </p:sp>
      <p:pic>
        <p:nvPicPr>
          <p:cNvPr id="15" name="Audienc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627632"/>
            <a:ext cx="219456" cy="219456"/>
          </a:xfrm>
          <a:prstGeom prst="rect">
            <a:avLst/>
          </a:prstGeom>
        </p:spPr>
      </p:pic>
      <p:sp>
        <p:nvSpPr>
          <p:cNvPr id="16" name="Audience title 3"/>
          <p:cNvSpPr txBox="1"/>
          <p:nvPr/>
        </p:nvSpPr>
        <p:spPr>
          <a:xfrm>
            <a:off x="626364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Начинающим HR</a:t>
            </a:r>
            <a:endParaRPr lang="en-US" sz="1600" dirty="0"/>
          </a:p>
        </p:txBody>
      </p:sp>
      <p:sp>
        <p:nvSpPr>
          <p:cNvPr id="17" name="Audience text 3"/>
          <p:cNvSpPr txBox="1"/>
          <p:nvPr/>
        </p:nvSpPr>
        <p:spPr>
          <a:xfrm>
            <a:off x="626364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Уже работаете, но хотите уверенно вести подбор, документы и метрики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vatar" descr="Дилором Юсупов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88720"/>
            <a:ext cx="2743200" cy="2743200"/>
          </a:xfrm>
          <a:prstGeom prst="ellipse">
            <a:avLst/>
          </a:prstGeom>
        </p:spPr>
      </p:pic>
      <p:sp>
        <p:nvSpPr>
          <p:cNvPr id="3" name="CTA title"/>
          <p:cNvSpPr txBox="1"/>
          <p:nvPr/>
        </p:nvSpPr>
        <p:spPr>
          <a:xfrm>
            <a:off x="4023360" y="10972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Записаться на обучение</a:t>
            </a:r>
            <a:endParaRPr lang="en-US" sz="3000" dirty="0"/>
          </a:p>
        </p:txBody>
      </p:sp>
      <p:sp>
        <p:nvSpPr>
          <p:cNvPr id="4" name="CTA text"/>
          <p:cNvSpPr txBox="1"/>
          <p:nvPr/>
        </p:nvSpPr>
        <p:spPr>
          <a:xfrm>
            <a:off x="4023360" y="22860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2DE"/>
                </a:solidFill>
              </a:rPr>
              <a:t>Позвоните — расскажу о формате занятий и отвечу на вопросы.</a:t>
            </a:r>
            <a:endParaRPr lang="en-US" sz="1500" dirty="0"/>
          </a:p>
        </p:txBody>
      </p:sp>
      <p:sp>
        <p:nvSpPr>
          <p:cNvPr id="5" name="Phone bg"/>
          <p:cNvSpPr/>
          <p:nvPr/>
        </p:nvSpPr>
        <p:spPr>
          <a:xfrm>
            <a:off x="4023360" y="3017520"/>
            <a:ext cx="2926080" cy="548640"/>
          </a:xfrm>
          <a:prstGeom prst="roundRect">
            <a:avLst>
              <a:gd name="adj" fmla="val 50000"/>
            </a:avLst>
          </a:prstGeom>
          <a:solidFill>
            <a:srgbClr val="D0457F"/>
          </a:solidFill>
          <a:ln/>
        </p:spPr>
      </p:sp>
      <p:sp>
        <p:nvSpPr>
          <p:cNvPr id="6" name="Phone">
            <a:hlinkClick r:id="rId2" tooltip=""/>
          </p:cNvPr>
          <p:cNvSpPr txBox="1"/>
          <p:nvPr/>
        </p:nvSpPr>
        <p:spPr>
          <a:xfrm>
            <a:off x="4023360" y="30175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+998 93 376 88 44</a:t>
            </a:r>
            <a:endParaRPr lang="en-US" sz="1800" dirty="0"/>
          </a:p>
        </p:txBody>
      </p:sp>
      <p:sp>
        <p:nvSpPr>
          <p:cNvPr id="7" name="Site"/>
          <p:cNvSpPr txBox="1"/>
          <p:nvPr/>
        </p:nvSpPr>
        <p:spPr>
          <a:xfrm>
            <a:off x="4023360" y="3794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7AAA"/>
                </a:solidFill>
              </a:rPr>
              <a:t>hrdilyayusupova-tech.github.io/myfirstpro/mentor.html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ntor Rose">
  <a:themeElements>
    <a:clrScheme name="Mentor Rose">
      <a:dk1>
        <a:srgbClr val="2A2433"/>
      </a:dk1>
      <a:lt1>
        <a:srgbClr val="FFFFFF"/>
      </a:lt1>
      <a:dk2>
        <a:srgbClr val="6B6475"/>
      </a:dk2>
      <a:lt2>
        <a:srgbClr val="FBF8FB"/>
      </a:lt2>
      <a:accent1>
        <a:srgbClr val="D0457F"/>
      </a:accent1>
      <a:accent2>
        <a:srgbClr val="6F9AE0"/>
      </a:accent2>
      <a:accent3>
        <a:srgbClr val="FBE6EF"/>
      </a:accent3>
      <a:accent4>
        <a:srgbClr val="E8F0FC"/>
      </a:accent4>
      <a:accent5>
        <a:srgbClr val="ECE4EC"/>
      </a:accent5>
      <a:accent6>
        <a:srgbClr val="F07AAA"/>
      </a:accent6>
      <a:hlink>
        <a:srgbClr val="D0457F"/>
      </a:hlink>
      <a:folHlink>
        <a:srgbClr val="6F9AE0"/>
      </a:folHlink>
    </a:clrScheme>
    <a:fontScheme name="Mentor Ro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Дилором Юсупова — ментор по HR</dc:title>
  <dc:subject>PptxGenJS Presentation</dc:subject>
  <dc:creator>Дилором Юсупова</dc:creator>
  <cp:lastModifiedBy>Дилором Юсупова</cp:lastModifiedBy>
  <cp:revision>1</cp:revision>
  <dcterms:created xsi:type="dcterms:W3CDTF">2026-10-29T15:53:13Z</dcterms:created>
  <dcterms:modified xsi:type="dcterms:W3CDTF">2026-10-29T15:53:13Z</dcterms:modified>
</cp:coreProperties>
</file>